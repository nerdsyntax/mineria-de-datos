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r9zTJXfwL732ZhXAgLqbudBtX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578F60-D2A6-4DB5-B658-FBFAE24A5E93}">
  <a:tblStyle styleId="{27578F60-D2A6-4DB5-B658-FBFAE24A5E9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348472" y="-2286000"/>
            <a:ext cx="6400800" cy="6400800"/>
          </a:xfrm>
          <a:prstGeom prst="ellipse">
            <a:avLst/>
          </a:prstGeom>
          <a:solidFill>
            <a:srgbClr val="13294B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811512" y="4114800"/>
            <a:ext cx="3840480" cy="3840480"/>
          </a:xfrm>
          <a:prstGeom prst="ellipse">
            <a:avLst/>
          </a:prstGeom>
          <a:solidFill>
            <a:srgbClr val="0E9AA7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DUOC UC · MINERÍA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371600"/>
            <a:ext cx="8778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Evaluación Final Transversal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51460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Encargo grupal (40%) + Presentación individual (60%)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383280"/>
            <a:ext cx="2788920" cy="1417320"/>
          </a:xfrm>
          <a:prstGeom prst="roundRect">
            <a:avLst>
              <a:gd fmla="val 5161" name="adj"/>
            </a:avLst>
          </a:prstGeom>
          <a:solidFill>
            <a:srgbClr val="13294B"/>
          </a:solidFill>
          <a:ln>
            <a:noFill/>
          </a:ln>
          <a:effectLst>
            <a:outerShdw blurRad="1016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51560" y="361188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996" y="367131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1051560" y="416052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ASIGNATURA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51560" y="43708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886200" y="3383280"/>
            <a:ext cx="2788920" cy="1417320"/>
          </a:xfrm>
          <a:prstGeom prst="roundRect">
            <a:avLst>
              <a:gd fmla="val 5161" name="adj"/>
            </a:avLst>
          </a:prstGeom>
          <a:solidFill>
            <a:srgbClr val="13294B"/>
          </a:solidFill>
          <a:ln>
            <a:noFill/>
          </a:ln>
          <a:effectLst>
            <a:outerShdw blurRad="1016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114800" y="361188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236" y="367131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4114800" y="416052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114800" y="43708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José Luis Oporto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Valenzuela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49440" y="3383280"/>
            <a:ext cx="2788920" cy="1417320"/>
          </a:xfrm>
          <a:prstGeom prst="roundRect">
            <a:avLst>
              <a:gd fmla="val 5161" name="adj"/>
            </a:avLst>
          </a:prstGeom>
          <a:solidFill>
            <a:srgbClr val="13294B"/>
          </a:solidFill>
          <a:ln>
            <a:noFill/>
          </a:ln>
          <a:effectLst>
            <a:outerShdw blurRad="1016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178040" y="361188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7476" y="367131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/>
          <p:nvPr/>
        </p:nvSpPr>
        <p:spPr>
          <a:xfrm>
            <a:off x="7178040" y="416052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178040" y="43708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min (10 expo. + 5 preguntas)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234440" y="1645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Recorrido de la presentación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22960" y="14173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05840" y="14173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1. Introducción al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2960" y="18745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05840" y="18745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2. Metodología utilizada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22960" y="23317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05840" y="23317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3. Preparación de los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22960" y="27889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05840" y="27889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4. Aplicación de técnicas de minería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22960" y="32461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05840" y="32461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5. Modelos predictivos y evaluación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22960" y="37033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05840" y="37033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6. Descubrimiento de patrones e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77356" y="14173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460236" y="14173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7. Documentación del proceso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277356" y="18745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60236" y="18745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8. Conclusiones y recomendaciones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277356" y="23317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460236" y="23317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9. Posibilidad de automatización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77356" y="27889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60236" y="27889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10. Futuras direcciones y mejoras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77356" y="3246120"/>
            <a:ext cx="5088636" cy="347472"/>
          </a:xfrm>
          <a:prstGeom prst="roundRect">
            <a:avLst>
              <a:gd fmla="val 15789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460236" y="3246120"/>
            <a:ext cx="47228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11. Cierre y reflexión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22960" y="4297680"/>
            <a:ext cx="10543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Cada punto corresponde a un indicador evaluado en la pauta docente. </a:t>
            </a:r>
            <a:r>
              <a:rPr b="1" i="0" lang="en-US" sz="115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Mantenga un máximo de 10 láminas en total.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01 · IL 1.1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Introducción al proyecto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01 · IL 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40080" y="13258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Qué debe responder esta sección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0080" y="1691640"/>
            <a:ext cx="6035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Contexto de la organización o caso a abordar.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Problemática específica que se resolverá.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Por qué la minería de datos es la solución adecuada.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40080" y="3383280"/>
            <a:ext cx="603504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77240" y="338328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Describir organización, problema de negocio y objetivo del proyecto.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995160" y="4069080"/>
            <a:ext cx="4526280" cy="1554480"/>
          </a:xfrm>
          <a:prstGeom prst="roundRect">
            <a:avLst>
              <a:gd fmla="val 4706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269480" y="422452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RA evaluado: RA1 · IL 1.1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269480" y="4526280"/>
            <a:ext cx="3977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Analiza el problema de manera detallada y aplica una metodología adecuada al desafío planteado.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02 · IL 1.1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Metodología utilizada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02 · IL 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0080" y="1463040"/>
            <a:ext cx="3422904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68680" y="2286000"/>
            <a:ext cx="2965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Enfoque adoptado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68680" y="269748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Metodología seleccionada (ej. CRISP-DM) y por qué se ajusta al proyecto.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383024" y="1463040"/>
            <a:ext cx="3422904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11624" y="169164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1162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11624" y="2286000"/>
            <a:ext cx="2965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Fuentes y modelo conceptual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11624" y="269748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Análisis previo del problema y origen de los datos considerados.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125968" y="1463040"/>
            <a:ext cx="3422904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354568" y="169164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354568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354568" y="2286000"/>
            <a:ext cx="2965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Técnicas seleccionadas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354568" y="269748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Justificación de las técnicas de minería elegidas frente al problema.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" y="4023360"/>
            <a:ext cx="10908792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77240" y="4023360"/>
            <a:ext cx="10634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Incluir diagrama o esquema de la metodología aplicada (ej. fases CRISP-DM con su estado de avance).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" y="4572000"/>
            <a:ext cx="10908792" cy="777240"/>
          </a:xfrm>
          <a:prstGeom prst="roundRect">
            <a:avLst>
              <a:gd fmla="val 7059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03 · IL 2.1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Preparación de los datos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03 · IL 2.1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80" y="1417320"/>
            <a:ext cx="10908792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1618488"/>
            <a:ext cx="502920" cy="50292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060" y="1683868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600200" y="152704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Obtención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600200" y="1874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Fuentes utilizadas, origen y método de obtención de la información.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" y="2468880"/>
            <a:ext cx="10908792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060" y="2735428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1600200" y="257860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Limpieza y preprocesamiento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600200" y="29260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Tratamiento de valores atípicos, datos faltantes y transformación de variables.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0080" y="3520440"/>
            <a:ext cx="10908792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68680" y="3721608"/>
            <a:ext cx="502920" cy="50292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060" y="3786988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1600200" y="36301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Análisis exploratorio (EDA)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600200" y="3977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Distribución, tendencias y correlaciones identificadas en los datos.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675120" y="1417320"/>
            <a:ext cx="4846320" cy="3154680"/>
          </a:xfrm>
          <a:prstGeom prst="roundRect">
            <a:avLst>
              <a:gd fmla="val 2319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903720" y="15544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Verificar calidad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903720" y="1920240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Valores nulos y outliers tratados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Variables transformadas/codificadas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Balance de clases (si aplica)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Sin fuga de información (data leakage)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División train/test documentada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40080" y="4663440"/>
            <a:ext cx="10908792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77240" y="4663440"/>
            <a:ext cx="10634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Insertar gráficos de EDA (distribuciones, correlaciones) y tabla resumen del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04 · IL 2.2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Aplicación de técnicas de minería de datos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04 · IL 2.2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008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Técnica(s) aplicada(s)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40080" y="1691640"/>
            <a:ext cx="1554480" cy="502920"/>
          </a:xfrm>
          <a:prstGeom prst="roundRect">
            <a:avLst>
              <a:gd fmla="val 72727" name="adj"/>
            </a:avLst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40080" y="16916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423160" y="1691640"/>
            <a:ext cx="1554480" cy="502920"/>
          </a:xfrm>
          <a:prstGeom prst="roundRect">
            <a:avLst>
              <a:gd fmla="val 72727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423160" y="16916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206240" y="1691640"/>
            <a:ext cx="1554480" cy="502920"/>
          </a:xfrm>
          <a:prstGeom prst="roundRect">
            <a:avLst>
              <a:gd fmla="val 72727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206240" y="16916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0080" y="22860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Marcar la(s) técnica(s) efectivamente utilizada(s) por el equipo.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0080" y="2697480"/>
            <a:ext cx="512064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Explicar cómo se implementó la técnica y qué librerías/algoritmos se usaron.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40080" y="3291840"/>
            <a:ext cx="5120640" cy="1463040"/>
          </a:xfrm>
          <a:prstGeom prst="roundRect">
            <a:avLst>
              <a:gd fmla="val 5000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68680" y="34290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Justificación de la elección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68680" y="374904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¿Por qué esta técnica es la más adecuada dado el problema, el tipo de variable objetivo y los datos disponibles?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995160" y="1325880"/>
            <a:ext cx="452628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269480" y="342900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Tip: mencione al menos un desafío técnico real (ej. tiempo de cómputo, parámetros, calidad de datos) y cómo lo resolvió.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05 · IL 2.3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Modelos predictivos y evaluación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05 · IL 2.3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13258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Comparación de modelos (ejemplo de tabla a completar)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7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{27578F60-D2A6-4DB5-B658-FBFAE24A5E93}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Precisión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vs Test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1 (ej. Random Forest)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2 (ej. XGBoost)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3 (baseline)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546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7"/>
          <p:cNvSpPr/>
          <p:nvPr/>
        </p:nvSpPr>
        <p:spPr>
          <a:xfrm>
            <a:off x="640080" y="3429000"/>
            <a:ext cx="731520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77240" y="342900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Reemplazar valores reales y herramientas/parámetros utilizados para cada modelo.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229600" y="1325880"/>
            <a:ext cx="3291840" cy="3429000"/>
          </a:xfrm>
          <a:prstGeom prst="roundRect">
            <a:avLst>
              <a:gd fmla="val 2222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458200" y="37947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Justifique el modelo final elegido, no solo reporte números.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06 · IL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Descubrimiento de patrones e insights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06 · IL 3.1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40080" y="13258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Patrones identificados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0080" y="1691640"/>
            <a:ext cx="603504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77240" y="169164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Describir los 2-3 patrones más relevantes encontrados en los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40080" y="233172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Relevancia para la organización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40080" y="2697480"/>
            <a:ext cx="603504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77240" y="269748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Explicar cómo cada patrón aporta a la toma de decisiones del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40080" y="3383280"/>
            <a:ext cx="603504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68680" y="3584448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116" y="3643884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1463040" y="3611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Insight clave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463040" y="39319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[Resumir en una frase el hallazgo más impactante]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995160" y="1325880"/>
            <a:ext cx="4526280" cy="3383280"/>
          </a:xfrm>
          <a:prstGeom prst="roundRect">
            <a:avLst>
              <a:gd fmla="val 2162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07 · IL 3.2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Documentación del proceso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07 · IL 3.2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40080" y="1463040"/>
            <a:ext cx="3422904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68680" y="16916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Proceso documentado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68680" y="2194560"/>
            <a:ext cx="29657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Metodología, técnicas y decisiones tomadas en cada etapa.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383024" y="1463040"/>
            <a:ext cx="3422904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611624" y="16916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Ajustes y desafíos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611624" y="2194560"/>
            <a:ext cx="29657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Cambios realizados respecto al plan original y por qué.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125968" y="1463040"/>
            <a:ext cx="3422904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354568" y="16916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Importancia de documentar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354568" y="2194560"/>
            <a:ext cx="29657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Cómo la documentación facilita la trazabilidad y reproducibilidad.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40080" y="3886200"/>
            <a:ext cx="10908792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77240" y="3886200"/>
            <a:ext cx="10634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Mencionar 1-2 dificultades concretas del proceso (ej. calidad de datos, ajuste de hiperparámetros) y cómo se resolvieron.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08 · Síntesis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Conclusiones y recomendaciones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08 · Síntesis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40080" y="13258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Hallazgos principales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0080" y="1691640"/>
            <a:ext cx="530352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Resumir 2-3 hallazgos centrales del proyecto.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Recomendaciones a la organización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40080" y="2743200"/>
            <a:ext cx="530352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Acciones concretas que la organización debería implementar.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34290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Próximos pasos sugeridos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40080" y="3794760"/>
            <a:ext cx="530352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Cómo ampliar la solución a otros contextos o problemas de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400800" y="1325880"/>
            <a:ext cx="5120640" cy="3246120"/>
          </a:xfrm>
          <a:prstGeom prst="roundRect">
            <a:avLst>
              <a:gd fmla="val 2254" name="adj"/>
            </a:avLst>
          </a:prstGeom>
          <a:solidFill>
            <a:srgbClr val="E7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675120" y="329184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Conecte cada recomendación con un hallazgo específico mostrado anteriormente — evite generalidades.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02920" y="246888"/>
            <a:ext cx="566928" cy="56692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4" name="Google Shape;2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32058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1"/>
          <p:cNvSpPr/>
          <p:nvPr/>
        </p:nvSpPr>
        <p:spPr>
          <a:xfrm>
            <a:off x="1234440" y="1645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09–10 · Proyección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234440" y="420624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Automatización y futuras mejoras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09–10 · Proyección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40080" y="1371600"/>
            <a:ext cx="534924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868680" y="1572768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" y="1632204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1463040" y="162763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Posibilidad de automatización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868680" y="2103120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¿Qué partes del proceso (ingesta, limpieza, reentrenamiento, reportes) podrían automatizarse y con qué beneficio?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68680" y="2880360"/>
            <a:ext cx="489204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1005840" y="288036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Identificar etapa(s) del pipeline a automatizar y la herramienta propuesta.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217920" y="1371600"/>
            <a:ext cx="534924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446520" y="1572768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8" name="Google Shape;2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956" y="1632204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1"/>
          <p:cNvSpPr/>
          <p:nvPr/>
        </p:nvSpPr>
        <p:spPr>
          <a:xfrm>
            <a:off x="7040880" y="162763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Futuras direcciones y mejoras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446520" y="2103120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Ideas para extender el análisis: nuevas variables, otras técnicas, ampliación a otras áreas.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446520" y="2880360"/>
            <a:ext cx="4892040" cy="457200"/>
          </a:xfrm>
          <a:prstGeom prst="roundRect">
            <a:avLst>
              <a:gd fmla="val 12000" name="adj"/>
            </a:avLst>
          </a:prstGeom>
          <a:solidFill>
            <a:srgbClr val="FFF4DE"/>
          </a:solidFill>
          <a:ln cap="flat" cmpd="sng" w="9525">
            <a:solidFill>
              <a:srgbClr val="F0C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583680" y="288036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B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✎ Completar grupo: </a:t>
            </a:r>
            <a:r>
              <a:rPr b="0" i="0" lang="en-US" sz="1100" u="none" cap="none" strike="noStrike">
                <a:solidFill>
                  <a:srgbClr val="8A5B00"/>
                </a:solidFill>
                <a:latin typeface="Calibri"/>
                <a:ea typeface="Calibri"/>
                <a:cs typeface="Calibri"/>
                <a:sym typeface="Calibri"/>
              </a:rPr>
              <a:t>Proponer al menos una mejora técnica concreta (dato, modelo o variable nueva).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3294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22960" y="731520"/>
            <a:ext cx="594360" cy="59436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0" name="Google Shape;3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27" y="80878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/>
          <p:nvPr/>
        </p:nvSpPr>
        <p:spPr>
          <a:xfrm>
            <a:off x="1600200" y="7132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D0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D0D6"/>
                </a:solidFill>
                <a:latin typeface="Calibri"/>
                <a:ea typeface="Calibri"/>
                <a:cs typeface="Calibri"/>
                <a:sym typeface="Calibri"/>
              </a:rPr>
              <a:t>11 · CIERRE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600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Cierre y reflexión final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822960" y="1920240"/>
            <a:ext cx="6583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DCE6EE"/>
                </a:solidFill>
                <a:latin typeface="Calibri"/>
                <a:ea typeface="Calibri"/>
                <a:cs typeface="Calibri"/>
                <a:sym typeface="Calibri"/>
              </a:rPr>
              <a:t>Lecciones aprendidas durante el proyecto.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CE6E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DCE6EE"/>
                </a:solidFill>
                <a:latin typeface="Calibri"/>
                <a:ea typeface="Calibri"/>
                <a:cs typeface="Calibri"/>
                <a:sym typeface="Calibri"/>
              </a:rPr>
              <a:t>Retos enfrentados y cómo se superaron.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CE6E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DCE6EE"/>
                </a:solidFill>
                <a:latin typeface="Calibri"/>
                <a:ea typeface="Calibri"/>
                <a:cs typeface="Calibri"/>
                <a:sym typeface="Calibri"/>
              </a:rPr>
              <a:t>Aporte del trabajo al área de minería de datos en el contexto de la organización.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7772400" y="1920240"/>
            <a:ext cx="3657600" cy="2788920"/>
          </a:xfrm>
          <a:prstGeom prst="roundRect">
            <a:avLst>
              <a:gd fmla="val 2623" name="adj"/>
            </a:avLst>
          </a:prstGeom>
          <a:solidFill>
            <a:srgbClr val="0E9A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8001000" y="2103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Recordatorios de formato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8001000" y="256032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Entregar 48 h antes de presentar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min totales (10 + 5 preguntas)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Calificación individual aunque el trabajo sea grupal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22960" y="60807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400"/>
              <a:buFont typeface="Cambria"/>
              <a:buNone/>
            </a:pPr>
            <a:r>
              <a:rPr b="0" i="1" lang="en-US" sz="1400" u="none" cap="none" strike="noStrike">
                <a:solidFill>
                  <a:srgbClr val="8FA3BF"/>
                </a:solidFill>
                <a:latin typeface="Cambria"/>
                <a:ea typeface="Cambria"/>
                <a:cs typeface="Cambria"/>
                <a:sym typeface="Cambria"/>
              </a:rPr>
              <a:t>¡Éxito en su presentación!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BIY7121 · Minería de Datos · Evaluación Final Transversal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9BD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